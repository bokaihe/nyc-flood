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398ea29f8425a" /><Relationship Type="http://schemas.openxmlformats.org/officeDocument/2006/relationships/extended-properties" Target="/docProps/app.xml" Id="R83f08acb916647c8" /><Relationship Type="http://schemas.openxmlformats.org/officeDocument/2006/relationships/officeDocument" Target="/ppt/presentation.xml" Id="R6d0546327fab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3b45dfc09466d"/>
  </p:sldMasterIdLst>
  <p:notesMasterIdLst>
    <p:notesMasterId xmlns:r="http://schemas.openxmlformats.org/officeDocument/2006/relationships" r:id="Rd3fee149b121411e"/>
  </p:notesMasterIdLst>
  <p:sldIdLst>
    <p:sldId xmlns:r="http://schemas.openxmlformats.org/officeDocument/2006/relationships" id="256" r:id="Refd9c1573c094dd2"/>
    <p:sldId xmlns:r="http://schemas.openxmlformats.org/officeDocument/2006/relationships" id="257" r:id="R2c29e7ecf14043f7"/>
  </p:sldIdLst>
  <p:sldSz cx="15240000" cy="666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b8aff7d444304" /><Relationship Type="http://schemas.openxmlformats.org/officeDocument/2006/relationships/slideMaster" Target="/ppt/slideMasters/slideMaster1.xml" Id="R7fb3b45dfc09466d" /><Relationship Type="http://schemas.openxmlformats.org/officeDocument/2006/relationships/notesMaster" Target="/ppt/notesMasters/notesMaster1.xml" Id="Rd3fee149b121411e" /><Relationship Type="http://schemas.openxmlformats.org/officeDocument/2006/relationships/presProps" Target="/ppt/presProps.xml" Id="Ra571b0b6b09946d3" /><Relationship Type="http://schemas.openxmlformats.org/officeDocument/2006/relationships/tableStyles" Target="/ppt/tableStyles.xml" Id="Rf3b651cc185c44e0" /><Relationship Type="http://schemas.openxmlformats.org/officeDocument/2006/relationships/slide" Target="/ppt/slides/slide1.xml" Id="Refd9c1573c094dd2" /><Relationship Type="http://schemas.openxmlformats.org/officeDocument/2006/relationships/slide" Target="/ppt/slides/slide2.xml" Id="R2c29e7ecf14043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0ceb1f1dd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2a6d8ce2d4db0" /><Relationship Type="http://schemas.openxmlformats.org/officeDocument/2006/relationships/notesMaster" Target="/ppt/notesMasters/notesMaster1.xml" Id="R3df58a262b4d4d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70202b7874ff8" /><Relationship Type="http://schemas.openxmlformats.org/officeDocument/2006/relationships/notesMaster" Target="/ppt/notesMasters/notesMaster1.xml" Id="R36e4581f9b5844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inspired by WorldFloods (2021), https://doi.org/10.1038/s41598-021-86650-z, and Portalés-Julià et al. (2023), Fig.5, https://doi.org/10.1038/s41598-023-47595-7. Original redrawing with actual project data. Sen1Floods11 contains 446 pairs with train/validation/test/Bolivia splits 252/89/90/15. RGB: B4/B3/B2; RGB+NIR adds B8. TRAIN-derived channel standardization. Separate models, identical architecture and protocol. Minimum validation Dice loss selects epoch 18 for both. Image-mean water IoU averages water IoU across images. Metrics transcribed from actual notebook08 results. NYC example: Davenport, 21 September 2024. Point counts cover 13 wet site-date pairs on 21 September and 18 October 2024 and are not pixel accuracy. Water masks include permanent water.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project-method diagram inspired by Portalés-Julià et al. (2023), Fig.5, https://doi.org/10.1038/s41598-023-47595-7. Training example: India_285297 (Sen1Floods11). Lower inference example: Davenport, 21 September 2024. RGB+NIR probability and mask are actual returned outputs. U-Net encoder widths 64/128/256/512; three max-pooling stages, bilinear upsampling, no cloud head. Softmax over water and non-water, then argmax. Weighted CE and Dice use valid labeled pixels. TRAIN-derived normalization and independently trained RGB/RGB+NIR weights. Arrows terminate at separate model input and supervision anchors for clarity.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bd64f968347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076314a39454e" /><Relationship Type="http://schemas.openxmlformats.org/officeDocument/2006/relationships/slideLayout" Target="/ppt/slideLayouts/slideLayout1.xml" Id="R7040b78d66ee4f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0b78d66ee4f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1813d4f244ef6" /><Relationship Type="http://schemas.openxmlformats.org/officeDocument/2006/relationships/image" Target="/ppt/media/image.png" Id="R5ddedfb2faed469f" /><Relationship Type="http://schemas.openxmlformats.org/officeDocument/2006/relationships/image" Target="/ppt/media/image2.png" Id="R2550392608a64411" /><Relationship Type="http://schemas.openxmlformats.org/officeDocument/2006/relationships/image" Target="/ppt/media/image3.png" Id="R3fc47f880e1e41b3" /><Relationship Type="http://schemas.openxmlformats.org/officeDocument/2006/relationships/image" Target="/ppt/media/image4.png" Id="Rf916b8939f5b4b6a" /><Relationship Type="http://schemas.openxmlformats.org/officeDocument/2006/relationships/image" Target="/ppt/media/image5.png" Id="Rec4d0d6a9ba64bb2" /><Relationship Type="http://schemas.openxmlformats.org/officeDocument/2006/relationships/image" Target="/ppt/media/image6.png" Id="R4512dabb709a4317" /><Relationship Type="http://schemas.openxmlformats.org/officeDocument/2006/relationships/notesSlide" Target="/ppt/notesSlides/notesSlide1.xml" Id="Rb4a08e3dcb27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28695233847c7" /><Relationship Type="http://schemas.openxmlformats.org/officeDocument/2006/relationships/image" Target="/ppt/media/image7.png" Id="R5ab5a334757a4da1" /><Relationship Type="http://schemas.openxmlformats.org/officeDocument/2006/relationships/image" Target="/ppt/media/image8.png" Id="R6f53abf5750c482a" /><Relationship Type="http://schemas.openxmlformats.org/officeDocument/2006/relationships/image" Target="/ppt/media/image9.png" Id="R0c832dd0189242e0" /><Relationship Type="http://schemas.openxmlformats.org/officeDocument/2006/relationships/image" Target="/ppt/media/image10.png" Id="R69af1c71cbe54c2f" /><Relationship Type="http://schemas.openxmlformats.org/officeDocument/2006/relationships/image" Target="/ppt/media/image11.png" Id="Rd3f2dde64c964d64" /><Relationship Type="http://schemas.openxmlformats.org/officeDocument/2006/relationships/image" Target="/ppt/media/image12.png" Id="R70a01097b6c04eb5" /><Relationship Type="http://schemas.openxmlformats.org/officeDocument/2006/relationships/notesSlide" Target="/ppt/notesSlides/notesSlide2.xml" Id="R5d4fad072d9c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element-1">
            <a:extLst xmlns:a="http://schemas.openxmlformats.org/drawingml/2006/main">
              <a:ext uri="{FF2B5EF4-FFF2-40B4-BE49-F238E27FC236}">
                <a16:creationId xmlns:a16="http://schemas.microsoft.com/office/drawing/2014/main" id="{11DD1203-2710-4BD9-8635-A9CF84D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 Benchmark experiment</a:t>
            </a:r>
          </a:p>
        </p:txBody>
      </p:sp>
      <p:sp>
        <p:nvSpPr>
          <p:cNvPr id="2" name="element-2">
            <a:extLst xmlns:a="http://schemas.openxmlformats.org/drawingml/2006/main">
              <a:ext uri="{FF2B5EF4-FFF2-40B4-BE49-F238E27FC236}">
                <a16:creationId xmlns:a16="http://schemas.microsoft.com/office/drawing/2014/main" id="{F733638F-90E9-4711-9327-EFF8869C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76250"/>
            <a:ext cx="419100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" name="element-3">
            <a:extLst xmlns:a="http://schemas.openxmlformats.org/drawingml/2006/main">
              <a:ext uri="{FF2B5EF4-FFF2-40B4-BE49-F238E27FC236}">
                <a16:creationId xmlns:a16="http://schemas.microsoft.com/office/drawing/2014/main" id="{A700176A-9471-4AFD-B300-C495C481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619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Sen1Floods11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edfb2faed469f"/>
          <a:stretch xmlns:a="http://schemas.openxmlformats.org/drawingml/2006/main"/>
        </p:blipFill>
        <p:spPr>
          <a:xfrm xmlns:a="http://schemas.openxmlformats.org/drawingml/2006/main">
            <a:off x="409575" y="923925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0392608a64411"/>
          <a:stretch xmlns:a="http://schemas.openxmlformats.org/drawingml/2006/main"/>
        </p:blipFill>
        <p:spPr>
          <a:xfrm xmlns:a="http://schemas.openxmlformats.org/drawingml/2006/main">
            <a:off x="2428875" y="923925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6" name="element-4">
            <a:extLst xmlns:a="http://schemas.openxmlformats.org/drawingml/2006/main">
              <a:ext uri="{FF2B5EF4-FFF2-40B4-BE49-F238E27FC236}">
                <a16:creationId xmlns:a16="http://schemas.microsoft.com/office/drawing/2014/main" id="{C1FA3E3E-B342-4A27-8BFC-BE66364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098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Sentinel-2</a:t>
            </a:r>
          </a:p>
        </p:txBody>
      </p:sp>
      <p:sp>
        <p:nvSpPr>
          <p:cNvPr id="7" name="element-5">
            <a:extLst xmlns:a="http://schemas.openxmlformats.org/drawingml/2006/main">
              <a:ext uri="{FF2B5EF4-FFF2-40B4-BE49-F238E27FC236}">
                <a16:creationId xmlns:a16="http://schemas.microsoft.com/office/drawing/2014/main" id="{76B2C582-7269-41C6-8B85-5128BDCB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098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8" name="element-6">
            <a:extLst xmlns:a="http://schemas.openxmlformats.org/drawingml/2006/main">
              <a:ext uri="{FF2B5EF4-FFF2-40B4-BE49-F238E27FC236}">
                <a16:creationId xmlns:a16="http://schemas.microsoft.com/office/drawing/2014/main" id="{799FBD39-9AFF-43A1-8748-F5408A9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"/>
            <a:ext cx="523875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9" name="element-7">
            <a:extLst xmlns:a="http://schemas.openxmlformats.org/drawingml/2006/main">
              <a:ext uri="{FF2B5EF4-FFF2-40B4-BE49-F238E27FC236}">
                <a16:creationId xmlns:a16="http://schemas.microsoft.com/office/drawing/2014/main" id="{71E98823-3533-4F4D-ADA9-51F85E5D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619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RGB / RGB+NIR U-Net</a:t>
            </a:r>
          </a:p>
        </p:txBody>
      </p:sp>
      <p:sp>
        <p:nvSpPr>
          <p:cNvPr id="10" name="element-8">
            <a:extLst xmlns:a="http://schemas.openxmlformats.org/drawingml/2006/main">
              <a:ext uri="{FF2B5EF4-FFF2-40B4-BE49-F238E27FC236}">
                <a16:creationId xmlns:a16="http://schemas.microsoft.com/office/drawing/2014/main" id="{88538DAE-1261-4C44-9646-4CDE1A92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028700"/>
            <a:ext cx="122873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1" name="element-9">
            <a:extLst xmlns:a="http://schemas.openxmlformats.org/drawingml/2006/main">
              <a:ext uri="{FF2B5EF4-FFF2-40B4-BE49-F238E27FC236}">
                <a16:creationId xmlns:a16="http://schemas.microsoft.com/office/drawing/2014/main" id="{1317D540-2BE9-457C-83CA-BEAACA89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014" y="1028700"/>
            <a:ext cx="122873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2" name="element-10">
            <a:extLst xmlns:a="http://schemas.openxmlformats.org/drawingml/2006/main">
              <a:ext uri="{FF2B5EF4-FFF2-40B4-BE49-F238E27FC236}">
                <a16:creationId xmlns:a16="http://schemas.microsoft.com/office/drawing/2014/main" id="{1631781C-2801-422F-ACE9-D4D9E93B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843" y="1856042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3" name="element-11">
            <a:extLst xmlns:a="http://schemas.openxmlformats.org/drawingml/2006/main">
              <a:ext uri="{FF2B5EF4-FFF2-40B4-BE49-F238E27FC236}">
                <a16:creationId xmlns:a16="http://schemas.microsoft.com/office/drawing/2014/main" id="{592BC4AC-6D00-41C5-B25E-6F497E1F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1479233"/>
            <a:ext cx="122873" cy="630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4" name="element-12">
            <a:extLst xmlns:a="http://schemas.openxmlformats.org/drawingml/2006/main">
              <a:ext uri="{FF2B5EF4-FFF2-40B4-BE49-F238E27FC236}">
                <a16:creationId xmlns:a16="http://schemas.microsoft.com/office/drawing/2014/main" id="{2E537F68-A483-40A3-AE4A-3FA7E8C9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19" y="1479233"/>
            <a:ext cx="122873" cy="630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5" name="element-13">
            <a:extLst xmlns:a="http://schemas.openxmlformats.org/drawingml/2006/main">
              <a:ext uri="{FF2B5EF4-FFF2-40B4-BE49-F238E27FC236}">
                <a16:creationId xmlns:a16="http://schemas.microsoft.com/office/drawing/2014/main" id="{1851658D-C13C-4821-A62E-D249D822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248" y="2150936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16" name="element-14">
            <a:extLst xmlns:a="http://schemas.openxmlformats.org/drawingml/2006/main">
              <a:ext uri="{FF2B5EF4-FFF2-40B4-BE49-F238E27FC236}">
                <a16:creationId xmlns:a16="http://schemas.microsoft.com/office/drawing/2014/main" id="{854B9572-D18E-46BB-99AA-C5F94D4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185" y="1929765"/>
            <a:ext cx="122873" cy="47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7" name="element-15">
            <a:extLst xmlns:a="http://schemas.openxmlformats.org/drawingml/2006/main">
              <a:ext uri="{FF2B5EF4-FFF2-40B4-BE49-F238E27FC236}">
                <a16:creationId xmlns:a16="http://schemas.microsoft.com/office/drawing/2014/main" id="{6FEA3E4A-A4B8-4DAE-991E-9FEAA0B3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929765"/>
            <a:ext cx="122873" cy="47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18" name="element-16">
            <a:extLst xmlns:a="http://schemas.openxmlformats.org/drawingml/2006/main">
              <a:ext uri="{FF2B5EF4-FFF2-40B4-BE49-F238E27FC236}">
                <a16:creationId xmlns:a16="http://schemas.microsoft.com/office/drawing/2014/main" id="{5DFFDB25-3A5B-4213-BD3F-E21D9B9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653" y="2445829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  <p:sp>
        <p:nvSpPr>
          <p:cNvPr id="19" name="element-17">
            <a:extLst xmlns:a="http://schemas.openxmlformats.org/drawingml/2006/main">
              <a:ext uri="{FF2B5EF4-FFF2-40B4-BE49-F238E27FC236}">
                <a16:creationId xmlns:a16="http://schemas.microsoft.com/office/drawing/2014/main" id="{24008E30-D43E-41F2-BAAD-37802A5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380298"/>
            <a:ext cx="122873" cy="344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20" name="element-18">
            <a:extLst xmlns:a="http://schemas.openxmlformats.org/drawingml/2006/main">
              <a:ext uri="{FF2B5EF4-FFF2-40B4-BE49-F238E27FC236}">
                <a16:creationId xmlns:a16="http://schemas.microsoft.com/office/drawing/2014/main" id="{49D085C3-1CDD-41F1-BC15-024277B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229" y="2380298"/>
            <a:ext cx="122873" cy="344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21" name="element-19">
            <a:extLst xmlns:a="http://schemas.openxmlformats.org/drawingml/2006/main">
              <a:ext uri="{FF2B5EF4-FFF2-40B4-BE49-F238E27FC236}">
                <a16:creationId xmlns:a16="http://schemas.microsoft.com/office/drawing/2014/main" id="{1154E1F3-28A1-437B-9806-C813485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058" y="2765298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512</a:t>
            </a:r>
          </a:p>
        </p:txBody>
      </p:sp>
      <p:sp>
        <p:nvSpPr>
          <p:cNvPr id="22" name="element-20">
            <a:extLst xmlns:a="http://schemas.openxmlformats.org/drawingml/2006/main">
              <a:ext uri="{FF2B5EF4-FFF2-40B4-BE49-F238E27FC236}">
                <a16:creationId xmlns:a16="http://schemas.microsoft.com/office/drawing/2014/main" id="{E8B48995-1FE9-43A9-B1C0-CAD007B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995" y="1929765"/>
            <a:ext cx="122873" cy="47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23" name="element-21">
            <a:extLst xmlns:a="http://schemas.openxmlformats.org/drawingml/2006/main">
              <a:ext uri="{FF2B5EF4-FFF2-40B4-BE49-F238E27FC236}">
                <a16:creationId xmlns:a16="http://schemas.microsoft.com/office/drawing/2014/main" id="{6E56561D-FCA7-43EC-A846-36B88AB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34" y="1929765"/>
            <a:ext cx="122873" cy="47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24" name="element-22">
            <a:extLst xmlns:a="http://schemas.openxmlformats.org/drawingml/2006/main">
              <a:ext uri="{FF2B5EF4-FFF2-40B4-BE49-F238E27FC236}">
                <a16:creationId xmlns:a16="http://schemas.microsoft.com/office/drawing/2014/main" id="{F6BDF7F2-8745-4B26-88AC-039094A1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463" y="2445829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  <p:sp>
        <p:nvSpPr>
          <p:cNvPr id="25" name="element-23">
            <a:extLst xmlns:a="http://schemas.openxmlformats.org/drawingml/2006/main">
              <a:ext uri="{FF2B5EF4-FFF2-40B4-BE49-F238E27FC236}">
                <a16:creationId xmlns:a16="http://schemas.microsoft.com/office/drawing/2014/main" id="{4D2945BA-B4F8-4A3C-9EEB-FDC077F2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79233"/>
            <a:ext cx="122873" cy="630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26" name="element-24">
            <a:extLst xmlns:a="http://schemas.openxmlformats.org/drawingml/2006/main">
              <a:ext uri="{FF2B5EF4-FFF2-40B4-BE49-F238E27FC236}">
                <a16:creationId xmlns:a16="http://schemas.microsoft.com/office/drawing/2014/main" id="{A06398F3-1EF7-4426-B51D-7B97B22C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039" y="1479233"/>
            <a:ext cx="122873" cy="630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27" name="element-25">
            <a:extLst xmlns:a="http://schemas.openxmlformats.org/drawingml/2006/main">
              <a:ext uri="{FF2B5EF4-FFF2-40B4-BE49-F238E27FC236}">
                <a16:creationId xmlns:a16="http://schemas.microsoft.com/office/drawing/2014/main" id="{155EF6F0-416A-456A-A6C6-A74EBAAA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868" y="2150936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28" name="element-26">
            <a:extLst xmlns:a="http://schemas.openxmlformats.org/drawingml/2006/main">
              <a:ext uri="{FF2B5EF4-FFF2-40B4-BE49-F238E27FC236}">
                <a16:creationId xmlns:a16="http://schemas.microsoft.com/office/drawing/2014/main" id="{CDD40FA8-6D06-48D7-83D1-BA9AEE7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805" y="1028700"/>
            <a:ext cx="122873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29" name="element-27">
            <a:extLst xmlns:a="http://schemas.openxmlformats.org/drawingml/2006/main">
              <a:ext uri="{FF2B5EF4-FFF2-40B4-BE49-F238E27FC236}">
                <a16:creationId xmlns:a16="http://schemas.microsoft.com/office/drawing/2014/main" id="{B31A484F-29B5-47E4-A80D-3CC8A29B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444" y="1028700"/>
            <a:ext cx="122873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30" name="element-28">
            <a:extLst xmlns:a="http://schemas.openxmlformats.org/drawingml/2006/main">
              <a:ext uri="{FF2B5EF4-FFF2-40B4-BE49-F238E27FC236}">
                <a16:creationId xmlns:a16="http://schemas.microsoft.com/office/drawing/2014/main" id="{AF7D25F5-923E-4E8F-A637-1FE9659F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73" y="1856042"/>
            <a:ext cx="417767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1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1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cxnSp>
        <p:nvCxnSpPr>
          <p:cNvPr id="10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0248" y="1421892"/>
            <a:ext cx="450532" cy="372714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0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363653" y="1794606"/>
            <a:ext cx="450532" cy="37271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09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37058" y="2167319"/>
            <a:ext cx="450532" cy="38500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1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7510463" y="2167319"/>
            <a:ext cx="450532" cy="385001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11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8083868" y="1794606"/>
            <a:ext cx="450532" cy="37271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12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8657273" y="1421892"/>
            <a:ext cx="450532" cy="372714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10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90248" y="1421892"/>
            <a:ext cx="331755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1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363653" y="1794606"/>
            <a:ext cx="21707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cxnSp>
        <p:nvCxnSpPr>
          <p:cNvPr id="115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937058" y="2167319"/>
            <a:ext cx="102393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sp>
        <p:nvSpPr>
          <p:cNvPr id="40" name="element-29">
            <a:extLst xmlns:a="http://schemas.openxmlformats.org/drawingml/2006/main">
              <a:ext uri="{FF2B5EF4-FFF2-40B4-BE49-F238E27FC236}">
                <a16:creationId xmlns:a16="http://schemas.microsoft.com/office/drawing/2014/main" id="{1F3A4696-3B69-4460-92BD-31FB171A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76250"/>
            <a:ext cx="438150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41" name="element-30">
            <a:extLst xmlns:a="http://schemas.openxmlformats.org/drawingml/2006/main">
              <a:ext uri="{FF2B5EF4-FFF2-40B4-BE49-F238E27FC236}">
                <a16:creationId xmlns:a16="http://schemas.microsoft.com/office/drawing/2014/main" id="{D4688418-CFF0-4840-87BA-FA3DB9D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Test-set evaluation</a:t>
            </a:r>
          </a:p>
        </p:txBody>
      </p:sp>
      <p:sp>
        <p:nvSpPr>
          <p:cNvPr id="42" name="element-31">
            <a:extLst xmlns:a="http://schemas.openxmlformats.org/drawingml/2006/main">
              <a:ext uri="{FF2B5EF4-FFF2-40B4-BE49-F238E27FC236}">
                <a16:creationId xmlns:a16="http://schemas.microsoft.com/office/drawing/2014/main" id="{333B2D01-AA70-431D-AA60-0CB383CB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9906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3" name="element-32">
            <a:extLst xmlns:a="http://schemas.openxmlformats.org/drawingml/2006/main">
              <a:ext uri="{FF2B5EF4-FFF2-40B4-BE49-F238E27FC236}">
                <a16:creationId xmlns:a16="http://schemas.microsoft.com/office/drawing/2014/main" id="{BC9E95C4-91EB-44F6-A243-B6308E8A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9525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Image-mean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IoU</a:t>
            </a:r>
          </a:p>
        </p:txBody>
      </p:sp>
      <p:sp>
        <p:nvSpPr>
          <p:cNvPr id="44" name="element-33">
            <a:extLst xmlns:a="http://schemas.openxmlformats.org/drawingml/2006/main">
              <a:ext uri="{FF2B5EF4-FFF2-40B4-BE49-F238E27FC236}">
                <a16:creationId xmlns:a16="http://schemas.microsoft.com/office/drawing/2014/main" id="{24C84512-EA5A-4876-93AA-D5900DC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9906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45" name="element-34">
            <a:extLst xmlns:a="http://schemas.openxmlformats.org/drawingml/2006/main">
              <a:ext uri="{FF2B5EF4-FFF2-40B4-BE49-F238E27FC236}">
                <a16:creationId xmlns:a16="http://schemas.microsoft.com/office/drawing/2014/main" id="{631CE3D9-8A67-4768-A350-C29A9D8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6383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75B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775BA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46" name="element-35">
            <a:extLst xmlns:a="http://schemas.openxmlformats.org/drawingml/2006/main">
              <a:ext uri="{FF2B5EF4-FFF2-40B4-BE49-F238E27FC236}">
                <a16:creationId xmlns:a16="http://schemas.microsoft.com/office/drawing/2014/main" id="{622AFBF4-2CF0-4670-8AC7-27A23E2D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638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0.2028</a:t>
            </a:r>
          </a:p>
        </p:txBody>
      </p:sp>
      <p:sp>
        <p:nvSpPr>
          <p:cNvPr id="47" name="element-36">
            <a:extLst xmlns:a="http://schemas.openxmlformats.org/drawingml/2006/main">
              <a:ext uri="{FF2B5EF4-FFF2-40B4-BE49-F238E27FC236}">
                <a16:creationId xmlns:a16="http://schemas.microsoft.com/office/drawing/2014/main" id="{C13B899D-5595-4966-9E44-B4399E4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1638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0.5399</a:t>
            </a:r>
          </a:p>
        </p:txBody>
      </p:sp>
      <p:sp>
        <p:nvSpPr>
          <p:cNvPr id="48" name="element-37">
            <a:extLst xmlns:a="http://schemas.openxmlformats.org/drawingml/2006/main">
              <a:ext uri="{FF2B5EF4-FFF2-40B4-BE49-F238E27FC236}">
                <a16:creationId xmlns:a16="http://schemas.microsoft.com/office/drawing/2014/main" id="{8667F3A3-7454-40DD-B4E8-FF6FAD0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050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4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4342"/>
                </a:solidFill>
                <a:latin typeface="Arial"/>
                <a:ea typeface="Arial"/>
                <a:cs typeface="Arial"/>
              </a:rPr>
              <a:t>RGB+NIR</a:t>
            </a:r>
          </a:p>
        </p:txBody>
      </p:sp>
      <p:sp>
        <p:nvSpPr>
          <p:cNvPr id="49" name="element-38">
            <a:extLst xmlns:a="http://schemas.openxmlformats.org/drawingml/2006/main">
              <a:ext uri="{FF2B5EF4-FFF2-40B4-BE49-F238E27FC236}">
                <a16:creationId xmlns:a16="http://schemas.microsoft.com/office/drawing/2014/main" id="{2382F2A6-F991-4438-9328-DE342B33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05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0.5150</a:t>
            </a:r>
          </a:p>
        </p:txBody>
      </p:sp>
      <p:sp>
        <p:nvSpPr>
          <p:cNvPr id="50" name="element-39">
            <a:extLst xmlns:a="http://schemas.openxmlformats.org/drawingml/2006/main">
              <a:ext uri="{FF2B5EF4-FFF2-40B4-BE49-F238E27FC236}">
                <a16:creationId xmlns:a16="http://schemas.microsoft.com/office/drawing/2014/main" id="{57DD5FC2-2923-4358-AB93-23C88795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2305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0.8404</a:t>
            </a:r>
          </a:p>
        </p:txBody>
      </p:sp>
      <p:cxnSp>
        <p:nvCxnSpPr>
          <p:cNvPr id="127" name=""/>
          <p:cNvCxnSpPr>
            <a:stCxn xmlns:a="http://schemas.openxmlformats.org/drawingml/2006/main" id="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29125" y="18478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0144125" y="18478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sp>
        <p:nvSpPr>
          <p:cNvPr id="53" name="element-40">
            <a:extLst xmlns:a="http://schemas.openxmlformats.org/drawingml/2006/main">
              <a:ext uri="{FF2B5EF4-FFF2-40B4-BE49-F238E27FC236}">
                <a16:creationId xmlns:a16="http://schemas.microsoft.com/office/drawing/2014/main" id="{E9EABEEA-1795-4DC6-8B17-132D6A6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419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  NYC application</a:t>
            </a:r>
          </a:p>
        </p:txBody>
      </p:sp>
      <p:sp>
        <p:nvSpPr>
          <p:cNvPr id="54" name="element-41">
            <a:extLst xmlns:a="http://schemas.openxmlformats.org/drawingml/2006/main">
              <a:ext uri="{FF2B5EF4-FFF2-40B4-BE49-F238E27FC236}">
                <a16:creationId xmlns:a16="http://schemas.microsoft.com/office/drawing/2014/main" id="{F330D129-869D-4E51-A85A-94C2BCA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67150"/>
            <a:ext cx="4191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5" name="element-42">
            <a:extLst xmlns:a="http://schemas.openxmlformats.org/drawingml/2006/main">
              <a:ext uri="{FF2B5EF4-FFF2-40B4-BE49-F238E27FC236}">
                <a16:creationId xmlns:a16="http://schemas.microsoft.com/office/drawing/2014/main" id="{4C8A1691-1539-4C90-982B-47FFEF3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528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Sentinel-2 L1C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7f880e1e41b3"/>
          <a:stretch xmlns:a="http://schemas.openxmlformats.org/drawingml/2006/main"/>
        </p:blipFill>
        <p:spPr>
          <a:xfrm xmlns:a="http://schemas.openxmlformats.org/drawingml/2006/main">
            <a:off x="409575" y="4314825"/>
            <a:ext cx="1828800" cy="18288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6b8939f5b4b6a"/>
          <a:stretch xmlns:a="http://schemas.openxmlformats.org/drawingml/2006/main"/>
        </p:blipFill>
        <p:spPr>
          <a:xfrm xmlns:a="http://schemas.openxmlformats.org/drawingml/2006/main">
            <a:off x="2428875" y="4314825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58" name="element-43">
            <a:extLst xmlns:a="http://schemas.openxmlformats.org/drawingml/2006/main">
              <a:ext uri="{FF2B5EF4-FFF2-40B4-BE49-F238E27FC236}">
                <a16:creationId xmlns:a16="http://schemas.microsoft.com/office/drawing/2014/main" id="{6E49A057-1F2F-47AF-A3FD-A7EE9415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91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59" name="element-44">
            <a:extLst xmlns:a="http://schemas.openxmlformats.org/drawingml/2006/main">
              <a:ext uri="{FF2B5EF4-FFF2-40B4-BE49-F238E27FC236}">
                <a16:creationId xmlns:a16="http://schemas.microsoft.com/office/drawing/2014/main" id="{020B77C1-417C-4D9F-B52C-25F239A9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912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NIR (B8)</a:t>
            </a:r>
          </a:p>
        </p:txBody>
      </p:sp>
      <p:sp>
        <p:nvSpPr>
          <p:cNvPr id="60" name="element-45">
            <a:extLst xmlns:a="http://schemas.openxmlformats.org/drawingml/2006/main">
              <a:ext uri="{FF2B5EF4-FFF2-40B4-BE49-F238E27FC236}">
                <a16:creationId xmlns:a16="http://schemas.microsoft.com/office/drawing/2014/main" id="{2198EB8F-1F72-4D8B-8724-1D194A0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5238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1" name="element-46">
            <a:extLst xmlns:a="http://schemas.openxmlformats.org/drawingml/2006/main">
              <a:ext uri="{FF2B5EF4-FFF2-40B4-BE49-F238E27FC236}">
                <a16:creationId xmlns:a16="http://schemas.microsoft.com/office/drawing/2014/main" id="{10EA80D9-3339-436E-A5BB-F00FF5C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predictions</a:t>
            </a: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d0d6a9ba64bb2"/>
          <a:stretch xmlns:a="http://schemas.openxmlformats.org/drawingml/2006/main"/>
        </p:blipFill>
        <p:spPr>
          <a:xfrm xmlns:a="http://schemas.openxmlformats.org/drawingml/2006/main">
            <a:off x="5410200" y="4324350"/>
            <a:ext cx="1847850" cy="1847850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2dabb709a4317"/>
          <a:stretch xmlns:a="http://schemas.openxmlformats.org/drawingml/2006/main"/>
        </p:blipFill>
        <p:spPr>
          <a:xfrm xmlns:a="http://schemas.openxmlformats.org/drawingml/2006/main">
            <a:off x="7715250" y="4324350"/>
            <a:ext cx="1847850" cy="1847850"/>
          </a:xfrm>
          <a:prstGeom xmlns:a="http://schemas.openxmlformats.org/drawingml/2006/main" prst="rect">
            <a:avLst/>
          </a:prstGeom>
        </p:spPr>
      </p:pic>
      <p:sp>
        <p:nvSpPr>
          <p:cNvPr id="64" name="element-47">
            <a:extLst xmlns:a="http://schemas.openxmlformats.org/drawingml/2006/main">
              <a:ext uri="{FF2B5EF4-FFF2-40B4-BE49-F238E27FC236}">
                <a16:creationId xmlns:a16="http://schemas.microsoft.com/office/drawing/2014/main" id="{F5F54597-6A6F-43A0-9C89-36A951A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912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65" name="element-48">
            <a:extLst xmlns:a="http://schemas.openxmlformats.org/drawingml/2006/main">
              <a:ext uri="{FF2B5EF4-FFF2-40B4-BE49-F238E27FC236}">
                <a16:creationId xmlns:a16="http://schemas.microsoft.com/office/drawing/2014/main" id="{D3C90C1F-B79B-46A5-AC32-3F293AC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1912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RGB+NIR</a:t>
            </a:r>
          </a:p>
        </p:txBody>
      </p:sp>
      <p:sp>
        <p:nvSpPr>
          <p:cNvPr id="66" name="element-49">
            <a:extLst xmlns:a="http://schemas.openxmlformats.org/drawingml/2006/main">
              <a:ext uri="{FF2B5EF4-FFF2-40B4-BE49-F238E27FC236}">
                <a16:creationId xmlns:a16="http://schemas.microsoft.com/office/drawing/2014/main" id="{100403BD-C3D3-4C5F-9FF1-552203D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43815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7" name="element-50">
            <a:extLst xmlns:a="http://schemas.openxmlformats.org/drawingml/2006/main">
              <a:ext uri="{FF2B5EF4-FFF2-40B4-BE49-F238E27FC236}">
                <a16:creationId xmlns:a16="http://schemas.microsoft.com/office/drawing/2014/main" id="{9D4B2EDE-043F-43AC-A8D9-C247DF0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52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FloodNet point comparison</a:t>
            </a:r>
          </a:p>
        </p:txBody>
      </p:sp>
      <p:sp>
        <p:nvSpPr>
          <p:cNvPr id="68" name="element-51">
            <a:extLst xmlns:a="http://schemas.openxmlformats.org/drawingml/2006/main">
              <a:ext uri="{FF2B5EF4-FFF2-40B4-BE49-F238E27FC236}">
                <a16:creationId xmlns:a16="http://schemas.microsoft.com/office/drawing/2014/main" id="{63B5BA87-B8F2-4484-B082-B80274DD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362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Detected / observed wet site–date pairs</a:t>
            </a:r>
          </a:p>
        </p:txBody>
      </p:sp>
      <p:sp>
        <p:nvSpPr>
          <p:cNvPr id="69" name="element-52">
            <a:extLst xmlns:a="http://schemas.openxmlformats.org/drawingml/2006/main">
              <a:ext uri="{FF2B5EF4-FFF2-40B4-BE49-F238E27FC236}">
                <a16:creationId xmlns:a16="http://schemas.microsoft.com/office/drawing/2014/main" id="{8F906BF7-010F-4564-B72A-2AF3D199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720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775B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775BA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70" name="element-53">
            <a:extLst xmlns:a="http://schemas.openxmlformats.org/drawingml/2006/main">
              <a:ext uri="{FF2B5EF4-FFF2-40B4-BE49-F238E27FC236}">
                <a16:creationId xmlns:a16="http://schemas.microsoft.com/office/drawing/2014/main" id="{141CCAA5-B40D-4B35-854E-90B8D0B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9720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  <p:sp>
        <p:nvSpPr>
          <p:cNvPr id="71" name="element-54">
            <a:extLst xmlns:a="http://schemas.openxmlformats.org/drawingml/2006/main">
              <a:ext uri="{FF2B5EF4-FFF2-40B4-BE49-F238E27FC236}">
                <a16:creationId xmlns:a16="http://schemas.microsoft.com/office/drawing/2014/main" id="{39B283A1-C9E1-4F44-8B3C-0864E8D1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57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4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4342"/>
                </a:solidFill>
                <a:latin typeface="Arial"/>
                <a:ea typeface="Arial"/>
                <a:cs typeface="Arial"/>
              </a:rPr>
              <a:t>RGB+NIR</a:t>
            </a:r>
          </a:p>
        </p:txBody>
      </p:sp>
      <p:sp>
        <p:nvSpPr>
          <p:cNvPr id="72" name="element-55">
            <a:extLst xmlns:a="http://schemas.openxmlformats.org/drawingml/2006/main">
              <a:ext uri="{FF2B5EF4-FFF2-40B4-BE49-F238E27FC236}">
                <a16:creationId xmlns:a16="http://schemas.microsoft.com/office/drawing/2014/main" id="{84BB3ADD-30BB-437E-9FFA-90CB744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6578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  <p:cxnSp>
        <p:nvCxnSpPr>
          <p:cNvPr id="149" name=""/>
          <p:cNvCxnSpPr>
            <a:stCxn xmlns:a="http://schemas.openxmlformats.org/drawingml/2006/main" id="54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429125" y="5191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50" name=""/>
          <p:cNvCxnSpPr>
            <a:stCxn xmlns:a="http://schemas.openxmlformats.org/drawingml/2006/main" id="60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0144125" y="5191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51" name=""/>
          <p:cNvCxnSpPr>
            <a:stCxn xmlns:a="http://schemas.openxmlformats.org/drawingml/2006/main" id="8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7524750" y="32194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sp>
        <p:nvSpPr>
          <p:cNvPr id="76" name="element-56">
            <a:extLst xmlns:a="http://schemas.openxmlformats.org/drawingml/2006/main">
              <a:ext uri="{FF2B5EF4-FFF2-40B4-BE49-F238E27FC236}">
                <a16:creationId xmlns:a16="http://schemas.microsoft.com/office/drawing/2014/main" id="{F6777D5B-F9A2-498C-8F35-2D92718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0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Selected weights</a:t>
            </a:r>
          </a:p>
        </p:txBody>
      </p:sp>
    </p:spTree>
    <p:extLst>
      <p:ext uri="{BB962C8B-B14F-4D97-AF65-F5344CB8AC3E}">
        <p14:creationId xmlns:p14="http://schemas.microsoft.com/office/powerpoint/2010/main" val="1135412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element-57">
            <a:extLst xmlns:a="http://schemas.openxmlformats.org/drawingml/2006/main">
              <a:ext uri="{FF2B5EF4-FFF2-40B4-BE49-F238E27FC236}">
                <a16:creationId xmlns:a16="http://schemas.microsoft.com/office/drawing/2014/main" id="{1F81C0ED-3DA5-41E2-8625-AF8FC6B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3905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" name="element-58">
            <a:extLst xmlns:a="http://schemas.openxmlformats.org/drawingml/2006/main">
              <a:ext uri="{FF2B5EF4-FFF2-40B4-BE49-F238E27FC236}">
                <a16:creationId xmlns:a16="http://schemas.microsoft.com/office/drawing/2014/main" id="{79B4E29F-86F0-4544-AC49-49AD8B7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38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pair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5a334757a4da1"/>
          <a:stretch xmlns:a="http://schemas.openxmlformats.org/drawingml/2006/main"/>
        </p:blipFill>
        <p:spPr>
          <a:xfrm xmlns:a="http://schemas.openxmlformats.org/drawingml/2006/main">
            <a:off x="476250" y="666750"/>
            <a:ext cx="1543050" cy="154305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3abf5750c482a"/>
          <a:stretch xmlns:a="http://schemas.openxmlformats.org/drawingml/2006/main"/>
        </p:blipFill>
        <p:spPr>
          <a:xfrm xmlns:a="http://schemas.openxmlformats.org/drawingml/2006/main">
            <a:off x="2362200" y="666750"/>
            <a:ext cx="1543050" cy="1543050"/>
          </a:xfrm>
          <a:prstGeom xmlns:a="http://schemas.openxmlformats.org/drawingml/2006/main" prst="rect">
            <a:avLst/>
          </a:prstGeom>
        </p:spPr>
      </p:pic>
      <p:sp>
        <p:nvSpPr>
          <p:cNvPr id="5" name="element-59">
            <a:extLst xmlns:a="http://schemas.openxmlformats.org/drawingml/2006/main">
              <a:ext uri="{FF2B5EF4-FFF2-40B4-BE49-F238E27FC236}">
                <a16:creationId xmlns:a16="http://schemas.microsoft.com/office/drawing/2014/main" id="{22A565F8-6DC8-48CE-A26D-E0F1AF4B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81050"/>
            <a:ext cx="4286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" name="element-60">
            <a:extLst xmlns:a="http://schemas.openxmlformats.org/drawingml/2006/main">
              <a:ext uri="{FF2B5EF4-FFF2-40B4-BE49-F238E27FC236}">
                <a16:creationId xmlns:a16="http://schemas.microsoft.com/office/drawing/2014/main" id="{2F3FCFA3-6A17-40AA-904A-D031036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866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7" name="element-61">
            <a:extLst xmlns:a="http://schemas.openxmlformats.org/drawingml/2006/main">
              <a:ext uri="{FF2B5EF4-FFF2-40B4-BE49-F238E27FC236}">
                <a16:creationId xmlns:a16="http://schemas.microsoft.com/office/drawing/2014/main" id="{1C6B8F53-AFA5-4344-898F-FF7B49F8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192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0.5 weighted CE + 0.5 Dice</a:t>
            </a:r>
          </a:p>
        </p:txBody>
      </p:sp>
      <p:cxnSp>
        <p:nvCxnSpPr>
          <p:cNvPr id="80" name=""/>
          <p:cNvCxnSpPr>
            <a:stCxn xmlns:a="http://schemas.openxmlformats.org/drawingml/2006/main" id="1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43375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sp>
        <p:nvSpPr>
          <p:cNvPr id="9" name="element-62">
            <a:extLst xmlns:a="http://schemas.openxmlformats.org/drawingml/2006/main">
              <a:ext uri="{FF2B5EF4-FFF2-40B4-BE49-F238E27FC236}">
                <a16:creationId xmlns:a16="http://schemas.microsoft.com/office/drawing/2014/main" id="{8CC1B946-DE78-4D25-9C2A-6D8DA9D1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62000"/>
            <a:ext cx="733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10" name="element-63">
            <a:extLst xmlns:a="http://schemas.openxmlformats.org/drawingml/2006/main">
              <a:ext uri="{FF2B5EF4-FFF2-40B4-BE49-F238E27FC236}">
                <a16:creationId xmlns:a16="http://schemas.microsoft.com/office/drawing/2014/main" id="{615BB454-BD42-4FC0-A495-C4676DAA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sp>
        <p:nvSpPr>
          <p:cNvPr id="11" name="element-64">
            <a:extLst xmlns:a="http://schemas.openxmlformats.org/drawingml/2006/main">
              <a:ext uri="{FF2B5EF4-FFF2-40B4-BE49-F238E27FC236}">
                <a16:creationId xmlns:a16="http://schemas.microsoft.com/office/drawing/2014/main" id="{B1BCEE15-859A-4987-B6E0-BF7B52A0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28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sp>
        <p:nvSpPr>
          <p:cNvPr id="12" name="element-65">
            <a:extLst xmlns:a="http://schemas.openxmlformats.org/drawingml/2006/main">
              <a:ext uri="{FF2B5EF4-FFF2-40B4-BE49-F238E27FC236}">
                <a16:creationId xmlns:a16="http://schemas.microsoft.com/office/drawing/2014/main" id="{E4F2A71E-6976-4402-96D2-3CCF9BB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733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sp>
        <p:nvSpPr>
          <p:cNvPr id="13" name="element-66">
            <a:extLst xmlns:a="http://schemas.openxmlformats.org/drawingml/2006/main">
              <a:ext uri="{FF2B5EF4-FFF2-40B4-BE49-F238E27FC236}">
                <a16:creationId xmlns:a16="http://schemas.microsoft.com/office/drawing/2014/main" id="{95C4891C-728F-468C-8957-247ED64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86" name=""/>
          <p:cNvCxnSpPr>
            <a:stCxn xmlns:a="http://schemas.openxmlformats.org/drawingml/2006/main" id="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190750" y="2428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</a:ln>
        </p:spPr>
      </p:cxnSp>
      <p:cxnSp>
        <p:nvCxnSpPr>
          <p:cNvPr id="8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200275" y="2743200"/>
            <a:ext cx="3743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</a:ln>
        </p:spPr>
      </p:cxnSp>
      <p:cxnSp>
        <p:nvCxnSpPr>
          <p:cNvPr id="88" name=""/>
          <p:cNvCxnSpPr>
            <a:stCxn xmlns:a="http://schemas.openxmlformats.org/drawingml/2006/main" id="1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953125" y="27527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cxnSp>
        <p:nvCxnSpPr>
          <p:cNvPr id="89" name=""/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048500" y="1885950"/>
            <a:ext cx="1524000" cy="1143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33333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18" name="element-67">
            <a:extLst xmlns:a="http://schemas.openxmlformats.org/drawingml/2006/main">
              <a:ext uri="{FF2B5EF4-FFF2-40B4-BE49-F238E27FC236}">
                <a16:creationId xmlns:a16="http://schemas.microsoft.com/office/drawing/2014/main" id="{9880E572-6011-440D-8E96-CAB3FBAB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Training input</a:t>
            </a:r>
          </a:p>
        </p:txBody>
      </p:sp>
      <p:sp>
        <p:nvSpPr>
          <p:cNvPr id="19" name="element-68">
            <a:extLst xmlns:a="http://schemas.openxmlformats.org/drawingml/2006/main">
              <a:ext uri="{FF2B5EF4-FFF2-40B4-BE49-F238E27FC236}">
                <a16:creationId xmlns:a16="http://schemas.microsoft.com/office/drawing/2014/main" id="{46198D7D-F552-4B22-91DA-7E3A422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764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Logits / gradients</a:t>
            </a:r>
          </a:p>
        </p:txBody>
      </p:sp>
      <p:sp>
        <p:nvSpPr>
          <p:cNvPr id="20" name="element-69">
            <a:extLst xmlns:a="http://schemas.openxmlformats.org/drawingml/2006/main">
              <a:ext uri="{FF2B5EF4-FFF2-40B4-BE49-F238E27FC236}">
                <a16:creationId xmlns:a16="http://schemas.microsoft.com/office/drawing/2014/main" id="{B8856937-7C18-4A5C-8138-B1A2E60F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04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Solid: inference</a:t>
            </a:r>
          </a:p>
        </p:txBody>
      </p:sp>
      <p:sp>
        <p:nvSpPr>
          <p:cNvPr id="21" name="element-70">
            <a:extLst xmlns:a="http://schemas.openxmlformats.org/drawingml/2006/main">
              <a:ext uri="{FF2B5EF4-FFF2-40B4-BE49-F238E27FC236}">
                <a16:creationId xmlns:a16="http://schemas.microsoft.com/office/drawing/2014/main" id="{90FC2EA9-A556-41BE-9DDF-4A3C969A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1144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Dashed: training or skip links</a:t>
            </a:r>
          </a:p>
        </p:txBody>
      </p:sp>
      <p:sp>
        <p:nvSpPr>
          <p:cNvPr id="22" name="element-71">
            <a:extLst xmlns:a="http://schemas.openxmlformats.org/drawingml/2006/main">
              <a:ext uri="{FF2B5EF4-FFF2-40B4-BE49-F238E27FC236}">
                <a16:creationId xmlns:a16="http://schemas.microsoft.com/office/drawing/2014/main" id="{753B0F5A-B19E-45EF-9B4B-D64D46C8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48000"/>
            <a:ext cx="3905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3" name="element-72">
            <a:extLst xmlns:a="http://schemas.openxmlformats.org/drawingml/2006/main">
              <a:ext uri="{FF2B5EF4-FFF2-40B4-BE49-F238E27FC236}">
                <a16:creationId xmlns:a16="http://schemas.microsoft.com/office/drawing/2014/main" id="{F378D0CA-0914-40E3-8D54-B79893EC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337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Sentinel-2 input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32dd0189242e0"/>
          <a:stretch xmlns:a="http://schemas.openxmlformats.org/drawingml/2006/main"/>
        </p:blipFill>
        <p:spPr>
          <a:xfrm xmlns:a="http://schemas.openxmlformats.org/drawingml/2006/main">
            <a:off x="381000" y="35623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f1c71cbe54c2f"/>
          <a:stretch xmlns:a="http://schemas.openxmlformats.org/drawingml/2006/main"/>
        </p:blipFill>
        <p:spPr>
          <a:xfrm xmlns:a="http://schemas.openxmlformats.org/drawingml/2006/main">
            <a:off x="2286000" y="35623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6" name="element-73">
            <a:extLst xmlns:a="http://schemas.openxmlformats.org/drawingml/2006/main">
              <a:ext uri="{FF2B5EF4-FFF2-40B4-BE49-F238E27FC236}">
                <a16:creationId xmlns:a16="http://schemas.microsoft.com/office/drawing/2014/main" id="{3C8E2AAB-91FB-4C1E-B6D1-333BFFB0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530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27" name="element-74">
            <a:extLst xmlns:a="http://schemas.openxmlformats.org/drawingml/2006/main">
              <a:ext uri="{FF2B5EF4-FFF2-40B4-BE49-F238E27FC236}">
                <a16:creationId xmlns:a16="http://schemas.microsoft.com/office/drawing/2014/main" id="{E58C7D7F-7CCB-46F0-B4E1-2E715642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NIR (B8)</a:t>
            </a:r>
          </a:p>
        </p:txBody>
      </p:sp>
      <p:sp>
        <p:nvSpPr>
          <p:cNvPr id="28" name="element-75">
            <a:extLst xmlns:a="http://schemas.openxmlformats.org/drawingml/2006/main">
              <a:ext uri="{FF2B5EF4-FFF2-40B4-BE49-F238E27FC236}">
                <a16:creationId xmlns:a16="http://schemas.microsoft.com/office/drawing/2014/main" id="{423D65F5-7854-43A3-83A3-17470D5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45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or 4 standardized bands</a:t>
            </a:r>
          </a:p>
        </p:txBody>
      </p:sp>
      <p:sp>
        <p:nvSpPr>
          <p:cNvPr id="29" name="element-76">
            <a:extLst xmlns:a="http://schemas.openxmlformats.org/drawingml/2006/main">
              <a:ext uri="{FF2B5EF4-FFF2-40B4-BE49-F238E27FC236}">
                <a16:creationId xmlns:a16="http://schemas.microsoft.com/office/drawing/2014/main" id="{85AC2AD2-663F-4633-8636-5770794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4572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30" name="element-77">
            <a:extLst xmlns:a="http://schemas.openxmlformats.org/drawingml/2006/main">
              <a:ext uri="{FF2B5EF4-FFF2-40B4-BE49-F238E27FC236}">
                <a16:creationId xmlns:a16="http://schemas.microsoft.com/office/drawing/2014/main" id="{695DD795-E031-4E66-864E-0AD9115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337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sp>
        <p:nvSpPr>
          <p:cNvPr id="31" name="element-78">
            <a:extLst xmlns:a="http://schemas.openxmlformats.org/drawingml/2006/main">
              <a:ext uri="{FF2B5EF4-FFF2-40B4-BE49-F238E27FC236}">
                <a16:creationId xmlns:a16="http://schemas.microsoft.com/office/drawing/2014/main" id="{58C17BE8-BFFC-44EB-B28A-5E8CE97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05225"/>
            <a:ext cx="127159" cy="8138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2" name="element-79">
            <a:extLst xmlns:a="http://schemas.openxmlformats.org/drawingml/2006/main">
              <a:ext uri="{FF2B5EF4-FFF2-40B4-BE49-F238E27FC236}">
                <a16:creationId xmlns:a16="http://schemas.microsoft.com/office/drawing/2014/main" id="{4E74FAF5-F098-41AE-9B21-7977DD3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943" y="3705225"/>
            <a:ext cx="127159" cy="8138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3" name="element-80">
            <a:extLst xmlns:a="http://schemas.openxmlformats.org/drawingml/2006/main">
              <a:ext uri="{FF2B5EF4-FFF2-40B4-BE49-F238E27FC236}">
                <a16:creationId xmlns:a16="http://schemas.microsoft.com/office/drawing/2014/main" id="{39180527-7DCD-498C-9B4A-A432601B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057" y="4561427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34" name="element-81">
            <a:extLst xmlns:a="http://schemas.openxmlformats.org/drawingml/2006/main">
              <a:ext uri="{FF2B5EF4-FFF2-40B4-BE49-F238E27FC236}">
                <a16:creationId xmlns:a16="http://schemas.microsoft.com/office/drawing/2014/main" id="{2CB3517E-BE86-4464-BF13-F197A2F7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283" y="4171474"/>
            <a:ext cx="127159" cy="652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5" name="element-82">
            <a:extLst xmlns:a="http://schemas.openxmlformats.org/drawingml/2006/main">
              <a:ext uri="{FF2B5EF4-FFF2-40B4-BE49-F238E27FC236}">
                <a16:creationId xmlns:a16="http://schemas.microsoft.com/office/drawing/2014/main" id="{741C480C-8B4A-47EB-9B27-11FA286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350" y="4171474"/>
            <a:ext cx="127159" cy="652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6" name="element-83">
            <a:extLst xmlns:a="http://schemas.openxmlformats.org/drawingml/2006/main">
              <a:ext uri="{FF2B5EF4-FFF2-40B4-BE49-F238E27FC236}">
                <a16:creationId xmlns:a16="http://schemas.microsoft.com/office/drawing/2014/main" id="{6E4DF551-6BDF-4B96-9A77-7370D90E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64" y="4866608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37" name="element-84">
            <a:extLst xmlns:a="http://schemas.openxmlformats.org/drawingml/2006/main">
              <a:ext uri="{FF2B5EF4-FFF2-40B4-BE49-F238E27FC236}">
                <a16:creationId xmlns:a16="http://schemas.microsoft.com/office/drawing/2014/main" id="{DAD1C146-7FC8-46C4-83CC-78DF540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690" y="4637723"/>
            <a:ext cx="127159" cy="49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8" name="element-85">
            <a:extLst xmlns:a="http://schemas.openxmlformats.org/drawingml/2006/main">
              <a:ext uri="{FF2B5EF4-FFF2-40B4-BE49-F238E27FC236}">
                <a16:creationId xmlns:a16="http://schemas.microsoft.com/office/drawing/2014/main" id="{E8AE163B-B263-4A8E-BE5D-8D91A651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758" y="4637723"/>
            <a:ext cx="127159" cy="49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39" name="element-86">
            <a:extLst xmlns:a="http://schemas.openxmlformats.org/drawingml/2006/main">
              <a:ext uri="{FF2B5EF4-FFF2-40B4-BE49-F238E27FC236}">
                <a16:creationId xmlns:a16="http://schemas.microsoft.com/office/drawing/2014/main" id="{4F7EBD69-89ED-49F5-9E6E-F8F33CE3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872" y="5171789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  <p:sp>
        <p:nvSpPr>
          <p:cNvPr id="40" name="element-87">
            <a:extLst xmlns:a="http://schemas.openxmlformats.org/drawingml/2006/main">
              <a:ext uri="{FF2B5EF4-FFF2-40B4-BE49-F238E27FC236}">
                <a16:creationId xmlns:a16="http://schemas.microsoft.com/office/drawing/2014/main" id="{C45A361A-701C-4306-A544-1D56ED45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098" y="5103971"/>
            <a:ext cx="127159" cy="3560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41" name="element-88">
            <a:extLst xmlns:a="http://schemas.openxmlformats.org/drawingml/2006/main">
              <a:ext uri="{FF2B5EF4-FFF2-40B4-BE49-F238E27FC236}">
                <a16:creationId xmlns:a16="http://schemas.microsoft.com/office/drawing/2014/main" id="{F0844D74-ED9A-4F2F-A701-E412CFF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165" y="5103971"/>
            <a:ext cx="127159" cy="3560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CD9"/>
          </a:solidFill>
          <a:ln xmlns:a="http://schemas.openxmlformats.org/drawingml/2006/main" w="9525">
            <a:solidFill>
              <a:srgbClr val="B64342"/>
            </a:solidFill>
          </a:ln>
        </p:spPr>
      </p:sp>
      <p:sp>
        <p:nvSpPr>
          <p:cNvPr id="42" name="element-89">
            <a:extLst xmlns:a="http://schemas.openxmlformats.org/drawingml/2006/main">
              <a:ext uri="{FF2B5EF4-FFF2-40B4-BE49-F238E27FC236}">
                <a16:creationId xmlns:a16="http://schemas.microsoft.com/office/drawing/2014/main" id="{8DE44398-9F64-4E54-B715-085EA8FB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280" y="5502402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512</a:t>
            </a:r>
          </a:p>
        </p:txBody>
      </p:sp>
      <p:sp>
        <p:nvSpPr>
          <p:cNvPr id="43" name="element-90">
            <a:extLst xmlns:a="http://schemas.openxmlformats.org/drawingml/2006/main">
              <a:ext uri="{FF2B5EF4-FFF2-40B4-BE49-F238E27FC236}">
                <a16:creationId xmlns:a16="http://schemas.microsoft.com/office/drawing/2014/main" id="{B045E1C7-A984-437C-8623-5AA0C0B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4637723"/>
            <a:ext cx="127159" cy="49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44" name="element-91">
            <a:extLst xmlns:a="http://schemas.openxmlformats.org/drawingml/2006/main">
              <a:ext uri="{FF2B5EF4-FFF2-40B4-BE49-F238E27FC236}">
                <a16:creationId xmlns:a16="http://schemas.microsoft.com/office/drawing/2014/main" id="{623F4B52-B42A-4A54-9C6C-CA9424A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573" y="4637723"/>
            <a:ext cx="127159" cy="49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45" name="element-92">
            <a:extLst xmlns:a="http://schemas.openxmlformats.org/drawingml/2006/main">
              <a:ext uri="{FF2B5EF4-FFF2-40B4-BE49-F238E27FC236}">
                <a16:creationId xmlns:a16="http://schemas.microsoft.com/office/drawing/2014/main" id="{B9994592-CBDD-47B0-B2F2-9E12BC6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687" y="5171789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256</a:t>
            </a:r>
          </a:p>
        </p:txBody>
      </p:sp>
      <p:sp>
        <p:nvSpPr>
          <p:cNvPr id="46" name="element-93">
            <a:extLst xmlns:a="http://schemas.openxmlformats.org/drawingml/2006/main">
              <a:ext uri="{FF2B5EF4-FFF2-40B4-BE49-F238E27FC236}">
                <a16:creationId xmlns:a16="http://schemas.microsoft.com/office/drawing/2014/main" id="{7CC39D8B-3244-4B25-8F55-29CF1AF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913" y="4171474"/>
            <a:ext cx="127159" cy="652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47" name="element-94">
            <a:extLst xmlns:a="http://schemas.openxmlformats.org/drawingml/2006/main">
              <a:ext uri="{FF2B5EF4-FFF2-40B4-BE49-F238E27FC236}">
                <a16:creationId xmlns:a16="http://schemas.microsoft.com/office/drawing/2014/main" id="{1C10437A-180F-4F6A-8E81-6C4348F8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980" y="4171474"/>
            <a:ext cx="127159" cy="652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48" name="element-95">
            <a:extLst xmlns:a="http://schemas.openxmlformats.org/drawingml/2006/main">
              <a:ext uri="{FF2B5EF4-FFF2-40B4-BE49-F238E27FC236}">
                <a16:creationId xmlns:a16="http://schemas.microsoft.com/office/drawing/2014/main" id="{44679AC4-1916-40E7-9AB8-C2A8988F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95" y="4866608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49" name="element-96">
            <a:extLst xmlns:a="http://schemas.openxmlformats.org/drawingml/2006/main">
              <a:ext uri="{FF2B5EF4-FFF2-40B4-BE49-F238E27FC236}">
                <a16:creationId xmlns:a16="http://schemas.microsoft.com/office/drawing/2014/main" id="{47816590-476F-4EF3-A184-128B0D5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20" y="3705225"/>
            <a:ext cx="127159" cy="8138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50" name="element-97">
            <a:extLst xmlns:a="http://schemas.openxmlformats.org/drawingml/2006/main">
              <a:ext uri="{FF2B5EF4-FFF2-40B4-BE49-F238E27FC236}">
                <a16:creationId xmlns:a16="http://schemas.microsoft.com/office/drawing/2014/main" id="{27F0016D-98AC-4574-B78C-EE8D6D6A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388" y="3705225"/>
            <a:ext cx="127159" cy="8138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8"/>
          </a:solidFill>
          <a:ln xmlns:a="http://schemas.openxmlformats.org/drawingml/2006/main" w="9525">
            <a:solidFill>
              <a:srgbClr val="3775BA"/>
            </a:solidFill>
          </a:ln>
        </p:spPr>
      </p:sp>
      <p:sp>
        <p:nvSpPr>
          <p:cNvPr id="51" name="element-98">
            <a:extLst xmlns:a="http://schemas.openxmlformats.org/drawingml/2006/main">
              <a:ext uri="{FF2B5EF4-FFF2-40B4-BE49-F238E27FC236}">
                <a16:creationId xmlns:a16="http://schemas.microsoft.com/office/drawing/2014/main" id="{4CB04932-C2BE-4CA9-9909-653FAA3E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502" y="4561427"/>
            <a:ext cx="43234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2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2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cxnSp>
        <p:nvCxnSpPr>
          <p:cNvPr id="124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223034" y="4112133"/>
            <a:ext cx="466249" cy="38571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816442" y="4497848"/>
            <a:ext cx="466248" cy="385716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409849" y="4883564"/>
            <a:ext cx="466249" cy="39843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7003257" y="4883564"/>
            <a:ext cx="466248" cy="39843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8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7596664" y="4497848"/>
            <a:ext cx="466249" cy="385716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29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8190072" y="4112133"/>
            <a:ext cx="466248" cy="38571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30" name=""/>
          <p:cNvCxnSpPr>
            <a:stCxn xmlns:a="http://schemas.openxmlformats.org/drawingml/2006/main" id="31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5223034" y="4112133"/>
            <a:ext cx="3433286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cxnSp>
        <p:nvCxnSpPr>
          <p:cNvPr id="131" name=""/>
          <p:cNvCxnSpPr>
            <a:stCxn xmlns:a="http://schemas.openxmlformats.org/drawingml/2006/main" id="34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5816442" y="4497848"/>
            <a:ext cx="2246471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cxnSp>
        <p:nvCxnSpPr>
          <p:cNvPr id="132" name=""/>
          <p:cNvCxnSpPr>
            <a:stCxn xmlns:a="http://schemas.openxmlformats.org/drawingml/2006/main" id="3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409849" y="4883564"/>
            <a:ext cx="1059656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dash"/>
            <a:tailEnd type="triangle" w="med" len="med"/>
          </a:ln>
        </p:spPr>
      </p:cxnSp>
      <p:sp>
        <p:nvSpPr>
          <p:cNvPr id="61" name="element-99">
            <a:extLst xmlns:a="http://schemas.openxmlformats.org/drawingml/2006/main">
              <a:ext uri="{FF2B5EF4-FFF2-40B4-BE49-F238E27FC236}">
                <a16:creationId xmlns:a16="http://schemas.microsoft.com/office/drawing/2014/main" id="{8DD90724-6C7D-4D6C-9272-1EEA6C1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245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 / decoder + skip links</a:t>
            </a:r>
          </a:p>
        </p:txBody>
      </p:sp>
      <p:sp>
        <p:nvSpPr>
          <p:cNvPr id="62" name="element-100">
            <a:extLst xmlns:a="http://schemas.openxmlformats.org/drawingml/2006/main">
              <a:ext uri="{FF2B5EF4-FFF2-40B4-BE49-F238E27FC236}">
                <a16:creationId xmlns:a16="http://schemas.microsoft.com/office/drawing/2014/main" id="{A622B1A0-695F-41C7-BCD6-D0CC7635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48000"/>
            <a:ext cx="2381250" cy="3333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3" name="element-101">
            <a:extLst xmlns:a="http://schemas.openxmlformats.org/drawingml/2006/main">
              <a:ext uri="{FF2B5EF4-FFF2-40B4-BE49-F238E27FC236}">
                <a16:creationId xmlns:a16="http://schemas.microsoft.com/office/drawing/2014/main" id="{A79861AF-31D2-4089-9336-4A79169E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337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probability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2dde64c964d64"/>
          <a:stretch xmlns:a="http://schemas.openxmlformats.org/drawingml/2006/main"/>
        </p:blipFill>
        <p:spPr>
          <a:xfrm xmlns:a="http://schemas.openxmlformats.org/drawingml/2006/main">
            <a:off x="9953625" y="36004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65" name="element-102">
            <a:extLst xmlns:a="http://schemas.openxmlformats.org/drawingml/2006/main">
              <a:ext uri="{FF2B5EF4-FFF2-40B4-BE49-F238E27FC236}">
                <a16:creationId xmlns:a16="http://schemas.microsoft.com/office/drawing/2014/main" id="{F1CD0AEF-6C1E-4718-8FDC-C0D99901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Softmax: P(water)</a:t>
            </a:r>
          </a:p>
        </p:txBody>
      </p:sp>
      <p:sp>
        <p:nvSpPr>
          <p:cNvPr id="66" name="element-103">
            <a:extLst xmlns:a="http://schemas.openxmlformats.org/drawingml/2006/main">
              <a:ext uri="{FF2B5EF4-FFF2-40B4-BE49-F238E27FC236}">
                <a16:creationId xmlns:a16="http://schemas.microsoft.com/office/drawing/2014/main" id="{3E15634C-91D4-4638-9868-B3F6A60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048000"/>
            <a:ext cx="2381250" cy="3333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67" name="element-104">
            <a:extLst xmlns:a="http://schemas.openxmlformats.org/drawingml/2006/main">
              <a:ext uri="{FF2B5EF4-FFF2-40B4-BE49-F238E27FC236}">
                <a16:creationId xmlns:a16="http://schemas.microsoft.com/office/drawing/2014/main" id="{69956D88-53C4-4245-8E80-0426708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1337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 mask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1097b6c04eb5"/>
          <a:stretch xmlns:a="http://schemas.openxmlformats.org/drawingml/2006/main"/>
        </p:blipFill>
        <p:spPr>
          <a:xfrm xmlns:a="http://schemas.openxmlformats.org/drawingml/2006/main">
            <a:off x="12715875" y="36004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69" name="element-105">
            <a:extLst xmlns:a="http://schemas.openxmlformats.org/drawingml/2006/main">
              <a:ext uri="{FF2B5EF4-FFF2-40B4-BE49-F238E27FC236}">
                <a16:creationId xmlns:a16="http://schemas.microsoft.com/office/drawing/2014/main" id="{25C81C59-FF54-420D-BBDA-DF2C8BEC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924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Argmax</a:t>
            </a:r>
          </a:p>
        </p:txBody>
      </p:sp>
      <p:cxnSp>
        <p:nvCxnSpPr>
          <p:cNvPr id="142" name=""/>
          <p:cNvCxnSpPr>
            <a:stCxn xmlns:a="http://schemas.openxmlformats.org/drawingml/2006/main" id="22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143375" y="4714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43" name=""/>
          <p:cNvCxnSpPr>
            <a:stCxn xmlns:a="http://schemas.openxmlformats.org/drawingml/2006/main" id="2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9286875" y="4714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  <p:cxnSp>
        <p:nvCxnSpPr>
          <p:cNvPr id="144" name=""/>
          <p:cNvCxnSpPr>
            <a:stCxn xmlns:a="http://schemas.openxmlformats.org/drawingml/2006/main" id="62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2239625" y="4714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33333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0855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2026-09-21T02:32:43.7490000Z</dcterms:created>
  <dcterms:modified xsi:type="dcterms:W3CDTF">2026-09-21T02:32:43.7490000Z</dcterms:modified>
</coreProperties>
</file>